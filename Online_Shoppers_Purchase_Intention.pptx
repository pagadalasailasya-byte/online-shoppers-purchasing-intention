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32B38"/>
              </a:solidFill>
              <a:effectLst/>
            </c:spPr>
          </c:dPt>
          <c:dPt>
            <c:idx val="1"/>
            <c:bubble3D val="0"/>
            <c:spPr>
              <a:solidFill>
                <a:srgbClr val="E8823C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4F6F8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4F6F8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 Purchase (84.5%)</c:v>
                </c:pt>
                <c:pt idx="1">
                  <c:v>Purchase (15.5%)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84.5</c:v>
                </c:pt>
                <c:pt idx="1">
                  <c:v>15.5</c:v>
                </c:pt>
              </c:numCache>
            </c:numRef>
          </c:val>
        </c:ser>
        <c:firstSliceAng val="0"/>
      </c:pieChart>
      <c:spPr>
        <a:solidFill>
          <a:srgbClr val="1E25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4F6F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E25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E882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4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0.6402</c:v>
                </c:pt>
                <c:pt idx="1">
                  <c:v>0.6199</c:v>
                </c:pt>
                <c:pt idx="2">
                  <c:v>0.6331</c:v>
                </c:pt>
                <c:pt idx="3">
                  <c:v>0.6622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3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4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0.8999</c:v>
                </c:pt>
                <c:pt idx="1">
                  <c:v>0.8786</c:v>
                </c:pt>
                <c:pt idx="2">
                  <c:v>0.9243</c:v>
                </c:pt>
                <c:pt idx="3">
                  <c:v>0.9259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4F6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AA4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232B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4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81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4F6F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81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81F"/>
          </a:solidFill>
          <a:ln/>
        </p:spPr>
      </p:sp>
      <p:sp>
        <p:nvSpPr>
          <p:cNvPr id="3" name="Text 1"/>
          <p:cNvSpPr/>
          <p:nvPr/>
        </p:nvSpPr>
        <p:spPr>
          <a:xfrm>
            <a:off x="6949440" y="42062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dirty="0">
                <a:solidFill>
                  <a:srgbClr val="1E25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84.5%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949440" y="4114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232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PURCHASE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 ·  MARKETING ANALYTICS  ·  CIA II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Online Shoppers'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Purchasing Intention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domain-specific classification models with tree-based algorithms to flag high-intent browsing sessions in real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25400">
            <a:solidFill>
              <a:srgbClr val="E88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Assignment  |  Unit II — Predictive Modelling  |  Total Marks: 25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5394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Domain: E-Commerce &amp; Digital Retail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BUSINESS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session leaves a fingerprint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retailers convert only a small fraction of visits into sales. Behind every session sits a browsing-behaviour trail — pages viewed, time spent, how the visitor exits — that quietly signals purchase intent long before checkout.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goal: predict, in near real time, whether a session will end in a purchase (Revenue = True) — so marketing and UX teams can intervene with offers, chat prompts, or retargeting before the visitor leaves.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40880" y="1691640"/>
            <a:ext cx="457200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80136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12,330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052560" y="1856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Recorded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5256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full year, UCI ML Repository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040880" y="3108960"/>
            <a:ext cx="457200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321868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052560" y="3273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Sessions Convert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05256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 class-imbalance problem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4526280"/>
            <a:ext cx="457200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4636008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→ 25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4690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Used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5029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+ 7 engineered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BUSINESS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320040" cy="320040"/>
          </a:xfrm>
          <a:prstGeom prst="oval">
            <a:avLst/>
          </a:prstGeom>
          <a:solidFill>
            <a:srgbClr val="E882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 end-to-end classification pipeline predicting session-level purchase intent.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920240"/>
            <a:ext cx="320040" cy="320040"/>
          </a:xfrm>
          <a:prstGeom prst="oval">
            <a:avLst/>
          </a:prstGeom>
          <a:solidFill>
            <a:srgbClr val="3FB6A8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8288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 domain-relevant features that expose signal already present in raw browsing metrics.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37560"/>
            <a:ext cx="320040" cy="320040"/>
          </a:xfrm>
          <a:prstGeom prst="oval">
            <a:avLst/>
          </a:prstGeom>
          <a:solidFill>
            <a:srgbClr val="232B3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and fairly compare four algorithms — Logistic Regression, Decision Tree, Random Forest, XGBoost.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34924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337560"/>
            <a:ext cx="320040" cy="320040"/>
          </a:xfrm>
          <a:prstGeom prst="oval">
            <a:avLst/>
          </a:prstGeom>
          <a:solidFill>
            <a:srgbClr val="E882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2461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 with metrics fit for an imbalanced target: Precision, Recall, F1, ROC-AUC — not accuracy alone.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4924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754880"/>
            <a:ext cx="320040" cy="320040"/>
          </a:xfrm>
          <a:prstGeom prst="oval">
            <a:avLst/>
          </a:prstGeom>
          <a:solidFill>
            <a:srgbClr val="3FB6A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663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 feature importance to generate actionable, business-relevant recommendations.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526280"/>
            <a:ext cx="5349240" cy="11887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46520" y="4754880"/>
            <a:ext cx="320040" cy="320040"/>
          </a:xfrm>
          <a:prstGeom prst="oval">
            <a:avLst/>
          </a:prstGeom>
          <a:solidFill>
            <a:srgbClr val="232B38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754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4663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 a practical way to democratize the model for non-technical stakeholders.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DATA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clean export, eighteen columns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Excel export of session-level data — no multi-source integration required. 12,330 rows × 18 columns, loaded directly into pandas.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2918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3566160" cy="502920"/>
          </a:xfrm>
          <a:prstGeom prst="rect">
            <a:avLst/>
          </a:prstGeom>
          <a:solidFill>
            <a:srgbClr val="E8823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(numeric)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Administrative / Duration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Informational / Duration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696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ProductRelated / Duration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7457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BounceRates · ExitRates · PageValues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286000"/>
            <a:ext cx="3566160" cy="32918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2286000"/>
            <a:ext cx="3566160" cy="502920"/>
          </a:xfrm>
          <a:prstGeom prst="rect">
            <a:avLst/>
          </a:prstGeom>
          <a:solidFill>
            <a:srgbClr val="3FB6A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 (categorical)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772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OperatingSystems · Browser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41696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 · TrafficType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47457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VisitorType · Weekend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286000"/>
            <a:ext cx="3566160" cy="329184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286000"/>
            <a:ext cx="3566160" cy="502920"/>
          </a:xfrm>
          <a:prstGeom prst="rect">
            <a:avLst/>
          </a:prstGeom>
          <a:solidFill>
            <a:srgbClr val="D9695B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(Boolean)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= session converted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1696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= no purchase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12480" y="474573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15.5% positive rate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DATA UNDERSTANDING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heavily imbalanced target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976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15.5%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sessions converted to a purchase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3246120"/>
          <a:ext cx="448056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97880" y="1691640"/>
            <a:ext cx="5715000" cy="201168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Roughly 5.5 : 1 imbalance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172200" y="228600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single fact drives most modelling choices ahead: accuracy alone would be misleading, so class-balancing and F1 / ROC-AUC evaluation are used throughout.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97880" y="3886200"/>
            <a:ext cx="5715000" cy="21031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2" name="Text 9"/>
          <p:cNvSpPr/>
          <p:nvPr/>
        </p:nvSpPr>
        <p:spPr>
          <a:xfrm>
            <a:off x="6172200" y="4069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PageValues: the clearest signal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72200" y="448056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sessions concentrate at high PageValues; non-converting sessions cluster near zero. This turns out to be the single strongest predictor in every model trained. Purchase rate also shifts by visitor type and month, hinting at patterns a static model would miss.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2–3 · DATA QUALITY &amp;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data, deliberate outlier policy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745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all 18 columns — no imputation needed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64992" y="1691640"/>
            <a:ext cx="2606040" cy="18745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4787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 rows removed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47872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≈1.0% of data, dropped before the train/test split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06040" cy="18745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12,205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64224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Rows after cleaning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64224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dataset used for modelling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997696" y="1691640"/>
            <a:ext cx="2606040" cy="18745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7" name="Text 15"/>
          <p:cNvSpPr/>
          <p:nvPr/>
        </p:nvSpPr>
        <p:spPr>
          <a:xfrm>
            <a:off x="9180576" y="18288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69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3,312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80576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cells flagged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80576" y="2788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|z| &gt; 3, mostly BounceRates &amp; ExitRates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64240" cy="210312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outliers were kept, not capped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44805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considered choice, not an oversight: Decision Tree, Random Forest and XGBoost split on thresholds rather than assume a bell-shaped distribution, making them naturally robust to extreme values. An unusually long product-browsing session isn't bad data — it may be a genuinely engaged visitor, exactly the signal the model should learn from rather than discard.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 · FEATURE SELECTION &amp;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engineered features, real signal added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raw variable was dropped — tree-based models naturally down-weight low-signal columns. Instead, effort went into exposing non-linear, ratio-based relationships for trees to split on.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863840" cy="356616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1280160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Feature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Formula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Corr. w/ Revenue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PageValuePerDuration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PageValues / (TotalDuration + 1)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0.282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TotalPageviews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Administrative + Informational + ProductRelated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0.162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TotalDuration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Sum of the three *_Duration columns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0.154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ExitBounceGap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ExitRates − BounceRates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−0.142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IsSpecialDayFlag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 if SpecialDay &gt; 0, else 0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−0.088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ProductPageRatio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ProductRelated / (TotalPageviews + 1)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0.081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AvgProductDuration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ProductRelated_Duration / (ProductRelated + 1)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0.064</a:t>
                      </a:r>
                      <a:endParaRPr lang="en-US" sz="11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2194560"/>
            <a:ext cx="2926080" cy="35661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7" name="Text 4"/>
          <p:cNvSpPr/>
          <p:nvPr/>
        </p:nvSpPr>
        <p:spPr>
          <a:xfrm>
            <a:off x="8915400" y="2377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→ 25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915400" y="2926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columns after engineering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15400" y="3520440"/>
            <a:ext cx="2423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PageValuePerDuration beats every raw feature except PageValues itself, and later ranks #2 in both Random Forest and XGBoost importance — confirming the engineering effort added genuine signal.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EXPLORING CLASSIFICATION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algorithms, one fair comparison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Stratified 80/20 split — 9,764 training sessions, 2,441 test sessions — both preserving the 15.6% purchase rate. All four models trained on the same 24-feature standardized set.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35661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2606040" cy="109728"/>
          </a:xfrm>
          <a:prstGeom prst="rect">
            <a:avLst/>
          </a:prstGeom>
          <a:solidFill>
            <a:srgbClr val="232B3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Interpretable linear baseline. class_weight="balanced" to counter the 5.5:1 imbalance.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2286000"/>
            <a:ext cx="2606040" cy="35661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0" name="Shape 8"/>
          <p:cNvSpPr/>
          <p:nvPr/>
        </p:nvSpPr>
        <p:spPr>
          <a:xfrm>
            <a:off x="3364992" y="2286000"/>
            <a:ext cx="2606040" cy="109728"/>
          </a:xfrm>
          <a:prstGeom prst="rect">
            <a:avLst/>
          </a:prstGeom>
          <a:solidFill>
            <a:srgbClr val="3FB6A8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547872" y="3474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interpretable non-linear model. max_depth=8, class_weight="balanced".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2286000"/>
            <a:ext cx="2606040" cy="35661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1344" y="2286000"/>
            <a:ext cx="2606040" cy="109728"/>
          </a:xfrm>
          <a:prstGeom prst="rect">
            <a:avLst/>
          </a:prstGeom>
          <a:solidFill>
            <a:srgbClr val="E8823C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64224" y="3474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Bagged ensemble of 200 trees. Trades some interpretability for stability.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97696" y="2286000"/>
            <a:ext cx="2606040" cy="35661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8" name="Shape 16"/>
          <p:cNvSpPr/>
          <p:nvPr/>
        </p:nvSpPr>
        <p:spPr>
          <a:xfrm>
            <a:off x="8997696" y="2286000"/>
            <a:ext cx="2606040" cy="109728"/>
          </a:xfrm>
          <a:prstGeom prst="rect">
            <a:avLst/>
          </a:prstGeom>
          <a:solidFill>
            <a:srgbClr val="D9695B"/>
          </a:solidFill>
          <a:ln/>
        </p:spPr>
      </p:sp>
      <p:sp>
        <p:nvSpPr>
          <p:cNvPr id="19" name="Text 17"/>
          <p:cNvSpPr/>
          <p:nvPr/>
        </p:nvSpPr>
        <p:spPr>
          <a:xfrm>
            <a:off x="9180576" y="2606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80576" y="3474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Gradient-boosted 200 trees, learning_rate=0.1, depth=5. scale_pos_weight rebalances the minority class.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 · COMPARISON LEADERBOARD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leads on F1 and ROC-AUC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alone is misleading here — an "always predict no purchase" model would score ~84.5% while being commercially useless. Evaluated on the held-out 2,441-session test set.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69494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2148840"/>
          <a:ext cx="3931920" cy="379476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640080"/>
                <a:gridCol w="640080"/>
                <a:gridCol w="640080"/>
                <a:gridCol w="640080"/>
              </a:tblGrid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Prec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F1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AUC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Logistic Reg.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0.866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0.553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0.759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0.640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0.900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Decision Tree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0.845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0.502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0.809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0.620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0.879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Random Forest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0.898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0.728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0.560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0.633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0.924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XGBoost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0.876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0.578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0.775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0.662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0.926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 · CONFUSION MATRICES &amp; ROC CURVES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precision–recall trade-off, not a tie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519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Forest: fewest false alarms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the fewest false-positive errors (flagging a browser as a buyer) but also misses the most real buyers — the lowest Recall of the four, at 0.560. Best fit when a false alarm is expensive, e.g. before triggering a costly discount code.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4846320" cy="0"/>
          </a:xfrm>
          <a:prstGeom prst="line">
            <a:avLst/>
          </a:prstGeom>
          <a:noFill/>
          <a:ln w="12700">
            <a:solidFill>
              <a:srgbClr val="232B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51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&amp; Logistic Regression: catch more buyers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of 0.775 and 0.759 respectively, at the cost of more false alarms — generally the safer trade-off in marketing, where missing a genuine buyer costs more than one extra promo banner.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394960" cy="42519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ROC-AUC: a clear two-tier split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32520" y="2587752"/>
            <a:ext cx="2468880" cy="256032"/>
          </a:xfrm>
          <a:prstGeom prst="rect">
            <a:avLst/>
          </a:prstGeom>
          <a:solidFill>
            <a:srgbClr val="232B38"/>
          </a:solidFill>
          <a:ln/>
        </p:spPr>
      </p:sp>
      <p:sp>
        <p:nvSpPr>
          <p:cNvPr id="14" name="Shape 12"/>
          <p:cNvSpPr/>
          <p:nvPr/>
        </p:nvSpPr>
        <p:spPr>
          <a:xfrm>
            <a:off x="8732520" y="2587752"/>
            <a:ext cx="2286183" cy="256032"/>
          </a:xfrm>
          <a:prstGeom prst="rect">
            <a:avLst/>
          </a:prstGeom>
          <a:solidFill>
            <a:srgbClr val="E8823C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732520" y="3364992"/>
            <a:ext cx="2468880" cy="256032"/>
          </a:xfrm>
          <a:prstGeom prst="rect">
            <a:avLst/>
          </a:prstGeom>
          <a:solidFill>
            <a:srgbClr val="232B38"/>
          </a:solidFill>
          <a:ln/>
        </p:spPr>
      </p:sp>
      <p:sp>
        <p:nvSpPr>
          <p:cNvPr id="18" name="Shape 16"/>
          <p:cNvSpPr/>
          <p:nvPr/>
        </p:nvSpPr>
        <p:spPr>
          <a:xfrm>
            <a:off x="8732520" y="3364992"/>
            <a:ext cx="2281245" cy="256032"/>
          </a:xfrm>
          <a:prstGeom prst="rect">
            <a:avLst/>
          </a:prstGeom>
          <a:solidFill>
            <a:srgbClr val="E8823C"/>
          </a:solidFill>
          <a:ln/>
        </p:spPr>
      </p:sp>
      <p:sp>
        <p:nvSpPr>
          <p:cNvPr id="19" name="Text 17"/>
          <p:cNvSpPr/>
          <p:nvPr/>
        </p:nvSpPr>
        <p:spPr>
          <a:xfrm>
            <a:off x="8732520" y="3291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4069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32520" y="4142232"/>
            <a:ext cx="2468880" cy="256032"/>
          </a:xfrm>
          <a:prstGeom prst="rect">
            <a:avLst/>
          </a:prstGeom>
          <a:solidFill>
            <a:srgbClr val="232B38"/>
          </a:solidFill>
          <a:ln/>
        </p:spPr>
      </p:sp>
      <p:sp>
        <p:nvSpPr>
          <p:cNvPr id="22" name="Shape 20"/>
          <p:cNvSpPr/>
          <p:nvPr/>
        </p:nvSpPr>
        <p:spPr>
          <a:xfrm>
            <a:off x="8732520" y="4142232"/>
            <a:ext cx="2221992" cy="256032"/>
          </a:xfrm>
          <a:prstGeom prst="rect">
            <a:avLst/>
          </a:prstGeom>
          <a:solidFill>
            <a:srgbClr val="3FB6A8"/>
          </a:solidFill>
          <a:ln/>
        </p:spPr>
      </p:sp>
      <p:sp>
        <p:nvSpPr>
          <p:cNvPr id="23" name="Text 21"/>
          <p:cNvSpPr/>
          <p:nvPr/>
        </p:nvSpPr>
        <p:spPr>
          <a:xfrm>
            <a:off x="873252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32520" y="4919472"/>
            <a:ext cx="2468880" cy="256032"/>
          </a:xfrm>
          <a:prstGeom prst="rect">
            <a:avLst/>
          </a:prstGeom>
          <a:solidFill>
            <a:srgbClr val="232B38"/>
          </a:solidFill>
          <a:ln/>
        </p:spPr>
      </p:sp>
      <p:sp>
        <p:nvSpPr>
          <p:cNvPr id="26" name="Shape 24"/>
          <p:cNvSpPr/>
          <p:nvPr/>
        </p:nvSpPr>
        <p:spPr>
          <a:xfrm>
            <a:off x="8732520" y="4919472"/>
            <a:ext cx="2170146" cy="256032"/>
          </a:xfrm>
          <a:prstGeom prst="rect">
            <a:avLst/>
          </a:prstGeom>
          <a:solidFill>
            <a:srgbClr val="3FB6A8"/>
          </a:solidFill>
          <a:ln/>
        </p:spPr>
      </p:sp>
      <p:sp>
        <p:nvSpPr>
          <p:cNvPr id="27" name="Text 25"/>
          <p:cNvSpPr/>
          <p:nvPr/>
        </p:nvSpPr>
        <p:spPr>
          <a:xfrm>
            <a:off x="873252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0.879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56235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four curves sit well above the random-classifier diagonal. XGBoost and Random Forest form a clearly stronger tier — evidence that ensembling (bagging or boosting) meaningfully improves ranking of sessions by purchase likelihood.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5.3 · FEATURE IMPORTANCE DIAGNOSTICS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models, the same top signal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680960" cy="3200400"/>
        </p:xfrm>
        <a:graphic>
          <a:graphicData uri="http://schemas.openxmlformats.org/drawingml/2006/table">
            <a:tbl>
              <a:tblPr/>
              <a:tblGrid>
                <a:gridCol w="822960"/>
                <a:gridCol w="2651760"/>
                <a:gridCol w="731520"/>
                <a:gridCol w="2651760"/>
                <a:gridCol w="82296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Rank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Random Forest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Imp.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XGBoost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4181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Imp.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B6A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PageValues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0.234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PageValues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0.392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PageValuePerDuration *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0.185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PageValuePerDuration *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823C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0.129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ExitRates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0.063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Month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0.088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TotalDuration *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0.052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TotalDuration *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0.028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5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ProductRelated_Duration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0.051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TotalPageviews *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4F6F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0.027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32B3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engineered feature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503920" y="1691640"/>
            <a:ext cx="3108960" cy="44805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1874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40%+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73252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total importance sits in just PageValues + PageValuePerDuration, in both models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32520" y="3429000"/>
            <a:ext cx="2651760" cy="0"/>
          </a:xfrm>
          <a:prstGeom prst="line">
            <a:avLst/>
          </a:prstGeom>
          <a:noFill/>
          <a:ln w="12700">
            <a:solidFill>
              <a:srgbClr val="232B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361188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"Value generated per unit of browsing time" is the single most reliable behavioural predictor of purchase intent — strong, model-agnostic evidence the feature engineering earned its place.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732520" y="5074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diverge most on ProductRelated_Duration &amp; Administrative_Duration — a reminder bagged and boosted trees can reach similar accuracy via different reasoning.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· DEMOCRATIZING 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notebook to daily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only creates value if the people running campaigns can act on it — without a data science team on standby.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794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scoring API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Serialize the trained XGBoost model (joblib / ONNX) behind a lightweight REST endpoint that returns a purchase-probability score the website or marketing tool can consume directly.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3794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0" y="3200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No-code business dashboard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388620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self-serve view (Power BI, Tableau, or a lightweight internal app) surfacing the leaderboard, top drivers, and conversion trends for marketing and product managers to monitor.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66160" cy="3794760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69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66760" y="3200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Plain-language playbooks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88620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 feature importance into simple rules of thumb — e.g. "prioritise retargeting for high page-value sessions with no completed purchase" — for customer-facing teams.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· CONCLUSION &amp; BUSINESS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XGBoost as the default scorer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530352"/>
          </a:xfrm>
          <a:prstGeom prst="rect">
            <a:avLst/>
          </a:prstGeom>
          <a:solidFill>
            <a:srgbClr val="232B3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37944"/>
            <a:ext cx="237744" cy="237744"/>
          </a:xfrm>
          <a:prstGeom prst="oval">
            <a:avLst/>
          </a:prstGeom>
          <a:solidFill>
            <a:srgbClr val="E8823C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(5.5:1) is the central challenge — F1 and ROC-AUC, not accuracy, were the primary metrics throughout.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6949440" cy="530352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459736"/>
            <a:ext cx="237744" cy="237744"/>
          </a:xfrm>
          <a:prstGeom prst="oval">
            <a:avLst/>
          </a:prstGeom>
          <a:solidFill>
            <a:srgbClr val="E8823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1343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wins on F1 (0.662) and ROC-AUC (0.926) — the strongest overall balance of catching buyers without excess false alarms.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2935224"/>
            <a:ext cx="6949440" cy="530352"/>
          </a:xfrm>
          <a:prstGeom prst="rect">
            <a:avLst/>
          </a:prstGeom>
          <a:solidFill>
            <a:srgbClr val="232B38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3081528"/>
            <a:ext cx="237744" cy="237744"/>
          </a:xfrm>
          <a:prstGeom prst="oval">
            <a:avLst/>
          </a:prstGeom>
          <a:solidFill>
            <a:srgbClr val="E8823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3522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added real value — PageValuePerDuration ranks #2 in both Random Forest and XGBoost importance.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6949440" cy="530352"/>
          </a:xfrm>
          <a:prstGeom prst="rect">
            <a:avLst/>
          </a:prstGeom>
          <a:solidFill>
            <a:srgbClr val="1E2530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3703320"/>
            <a:ext cx="237744" cy="237744"/>
          </a:xfrm>
          <a:prstGeom prst="oval">
            <a:avLst/>
          </a:prstGeom>
          <a:solidFill>
            <a:srgbClr val="E882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557016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PageValues is the dominant, most actionable real-time signal across every analysis in this report.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178808"/>
            <a:ext cx="6949440" cy="530352"/>
          </a:xfrm>
          <a:prstGeom prst="rect">
            <a:avLst/>
          </a:prstGeom>
          <a:solidFill>
            <a:srgbClr val="232B38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4325112"/>
            <a:ext cx="237744" cy="237744"/>
          </a:xfrm>
          <a:prstGeom prst="oval">
            <a:avLst/>
          </a:prstGeom>
          <a:solidFill>
            <a:srgbClr val="E8823C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17880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choice should follow the business action: Random Forest's precision suits costly interventions; XGBoost's recall suits low-cost ones.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772400" y="1691640"/>
            <a:ext cx="3886200" cy="4754880"/>
          </a:xfrm>
          <a:prstGeom prst="rect">
            <a:avLst/>
          </a:prstGeom>
          <a:solidFill>
            <a:srgbClr val="E8823C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1920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0" y="22860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046720" y="2926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the production purchase-intent scorer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361188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PageValues and PageValuePerDuration as the primary real-time triggers for on-site intervention. Keep the Random Forest variant on hand for any high-cost promotional action where precision outweighs recall.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46720" y="53492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41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step: a scoring API and business-facing dashboard to turn this analysis into ongoing commercial value.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 Intent Prediction  ·  Tree-Based Classification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Online Shoppers' Purchasing Intention — Tree-Based Classification, CIA II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4206240"/>
            <a:ext cx="2011680" cy="0"/>
          </a:xfrm>
          <a:prstGeom prst="line">
            <a:avLst/>
          </a:prstGeom>
          <a:noFill/>
          <a:ln w="25400">
            <a:solidFill>
              <a:srgbClr val="E8823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2026-07-23T16:17:06Z</dcterms:created>
  <dcterms:modified xsi:type="dcterms:W3CDTF">2026-07-23T16:17:06Z</dcterms:modified>
</cp:coreProperties>
</file>